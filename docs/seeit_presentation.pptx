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Poppi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6ea5a200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6ea5a200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6ea5a200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6ea5a200e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6ea5a200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6ea5a200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0" y="7422442"/>
            <a:ext cx="18288000" cy="2893928"/>
            <a:chOff x="0" y="-57150"/>
            <a:chExt cx="4816593" cy="762187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816592" cy="705037"/>
            </a:xfrm>
            <a:custGeom>
              <a:rect b="b" l="l" r="r" t="t"/>
              <a:pathLst>
                <a:path extrusionOk="0" h="7050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5037"/>
                  </a:lnTo>
                  <a:lnTo>
                    <a:pt x="0" y="705037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0" y="-57150"/>
              <a:ext cx="4816593" cy="762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>
            <a:off x="2256205" y="1579171"/>
            <a:ext cx="14194690" cy="7330767"/>
            <a:chOff x="0" y="-57150"/>
            <a:chExt cx="3738519" cy="1930737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738519" cy="1873587"/>
            </a:xfrm>
            <a:custGeom>
              <a:rect b="b" l="l" r="r" t="t"/>
              <a:pathLst>
                <a:path extrusionOk="0"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3"/>
          <p:cNvGrpSpPr/>
          <p:nvPr/>
        </p:nvGrpSpPr>
        <p:grpSpPr>
          <a:xfrm>
            <a:off x="2046655" y="1369621"/>
            <a:ext cx="14194690" cy="7330767"/>
            <a:chOff x="0" y="-57150"/>
            <a:chExt cx="3738519" cy="1930737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3738519" cy="1873587"/>
            </a:xfrm>
            <a:custGeom>
              <a:rect b="b" l="l" r="r" t="t"/>
              <a:pathLst>
                <a:path extrusionOk="0"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3"/>
          <p:cNvGrpSpPr/>
          <p:nvPr/>
        </p:nvGrpSpPr>
        <p:grpSpPr>
          <a:xfrm>
            <a:off x="6262591" y="-1205201"/>
            <a:ext cx="5762818" cy="3513715"/>
            <a:chOff x="0" y="-57150"/>
            <a:chExt cx="1517779" cy="925423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1517779" cy="868273"/>
            </a:xfrm>
            <a:custGeom>
              <a:rect b="b" l="l" r="r" t="t"/>
              <a:pathLst>
                <a:path extrusionOk="0" h="868273" w="1517779">
                  <a:moveTo>
                    <a:pt x="68515" y="0"/>
                  </a:moveTo>
                  <a:lnTo>
                    <a:pt x="1449265" y="0"/>
                  </a:lnTo>
                  <a:cubicBezTo>
                    <a:pt x="1487104" y="0"/>
                    <a:pt x="1517779" y="30675"/>
                    <a:pt x="1517779" y="68515"/>
                  </a:cubicBezTo>
                  <a:lnTo>
                    <a:pt x="1517779" y="799758"/>
                  </a:lnTo>
                  <a:cubicBezTo>
                    <a:pt x="1517779" y="817930"/>
                    <a:pt x="1510561" y="835357"/>
                    <a:pt x="1497712" y="848206"/>
                  </a:cubicBezTo>
                  <a:cubicBezTo>
                    <a:pt x="1484863" y="861055"/>
                    <a:pt x="1467436" y="868273"/>
                    <a:pt x="1449265" y="868273"/>
                  </a:cubicBezTo>
                  <a:lnTo>
                    <a:pt x="68515" y="868273"/>
                  </a:lnTo>
                  <a:cubicBezTo>
                    <a:pt x="30675" y="868273"/>
                    <a:pt x="0" y="837598"/>
                    <a:pt x="0" y="799758"/>
                  </a:cubicBezTo>
                  <a:lnTo>
                    <a:pt x="0" y="68515"/>
                  </a:lnTo>
                  <a:cubicBezTo>
                    <a:pt x="0" y="50343"/>
                    <a:pt x="7218" y="32917"/>
                    <a:pt x="20067" y="20067"/>
                  </a:cubicBezTo>
                  <a:cubicBezTo>
                    <a:pt x="32917" y="7218"/>
                    <a:pt x="50343" y="0"/>
                    <a:pt x="68515" y="0"/>
                  </a:cubicBez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0" y="-57150"/>
              <a:ext cx="1517779" cy="925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3"/>
          <p:cNvSpPr/>
          <p:nvPr/>
        </p:nvSpPr>
        <p:spPr>
          <a:xfrm>
            <a:off x="689942" y="660153"/>
            <a:ext cx="2713427" cy="2730492"/>
          </a:xfrm>
          <a:custGeom>
            <a:rect b="b" l="l" r="r" t="t"/>
            <a:pathLst>
              <a:path extrusionOk="0"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3"/>
          <p:cNvSpPr/>
          <p:nvPr/>
        </p:nvSpPr>
        <p:spPr>
          <a:xfrm>
            <a:off x="14884631" y="7146243"/>
            <a:ext cx="2713427" cy="2730492"/>
          </a:xfrm>
          <a:custGeom>
            <a:rect b="b" l="l" r="r" t="t"/>
            <a:pathLst>
              <a:path extrusionOk="0"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3"/>
          <p:cNvSpPr txBox="1"/>
          <p:nvPr/>
        </p:nvSpPr>
        <p:spPr>
          <a:xfrm>
            <a:off x="3595825" y="4915821"/>
            <a:ext cx="111219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07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SeeIt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583000" y="2904625"/>
            <a:ext cx="11121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8">
                <a:latin typeface="Poppins"/>
                <a:ea typeface="Poppins"/>
                <a:cs typeface="Poppins"/>
                <a:sym typeface="Poppins"/>
              </a:rPr>
              <a:t>Eötvös Loránd Technikum</a:t>
            </a:r>
            <a:endParaRPr sz="3438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8">
                <a:latin typeface="Poppins"/>
                <a:ea typeface="Poppins"/>
                <a:cs typeface="Poppins"/>
                <a:sym typeface="Poppins"/>
              </a:rPr>
              <a:t>Szoftverfejlesztő és -tesztelő</a:t>
            </a:r>
            <a:endParaRPr sz="3438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8">
                <a:latin typeface="Poppins"/>
                <a:ea typeface="Poppins"/>
                <a:cs typeface="Poppins"/>
                <a:sym typeface="Poppins"/>
              </a:rPr>
              <a:t>13. I</a:t>
            </a:r>
            <a:endParaRPr sz="3438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7484350" y="455975"/>
            <a:ext cx="33192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4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Lehotai Ábel Nagy Ádám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262591" y="9157588"/>
            <a:ext cx="5762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1">
                <a:latin typeface="Poppins"/>
                <a:ea typeface="Poppins"/>
                <a:cs typeface="Poppins"/>
                <a:sym typeface="Poppins"/>
              </a:rPr>
              <a:t>Budapest, 2026 május 22.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4"/>
          <p:cNvGrpSpPr/>
          <p:nvPr/>
        </p:nvGrpSpPr>
        <p:grpSpPr>
          <a:xfrm>
            <a:off x="0" y="1566095"/>
            <a:ext cx="18288000" cy="6054879"/>
            <a:chOff x="0" y="-57150"/>
            <a:chExt cx="4816593" cy="1594701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4816592" cy="1537551"/>
            </a:xfrm>
            <a:custGeom>
              <a:rect b="b" l="l" r="r" t="t"/>
              <a:pathLst>
                <a:path extrusionOk="0" h="15375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37551"/>
                  </a:lnTo>
                  <a:lnTo>
                    <a:pt x="0" y="1537551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108" name="Google Shape;108;p14"/>
            <p:cNvSpPr txBox="1"/>
            <p:nvPr/>
          </p:nvSpPr>
          <p:spPr>
            <a:xfrm>
              <a:off x="0" y="-57150"/>
              <a:ext cx="4816593" cy="1594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4"/>
          <p:cNvSpPr txBox="1"/>
          <p:nvPr/>
        </p:nvSpPr>
        <p:spPr>
          <a:xfrm>
            <a:off x="1484100" y="4192050"/>
            <a:ext cx="9622200" cy="3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7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A SeeIt! egy olyan webalkalmazás, amely a közös film- és sorozatnézés során felmerülő döntéshozatali nehézségekre nyújt megoldást. Amikor barátokkal vagy családdal szeretnénk tartalmat fogyasztani, gyakran akadály, hogy nem találunk mindenki számára megfelelő darabot. A platform lehetővé teszi a felhasználók számára, hogy közösen fedezzenek fel, véleményezzenek és válasszanak ki mozgóképes tartalmakat.</a:t>
            </a:r>
            <a:endParaRPr sz="2337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37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484100" y="2303475"/>
            <a:ext cx="7659900" cy="29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69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Áttekintés</a:t>
            </a:r>
            <a:endParaRPr b="1" sz="7869">
              <a:solidFill>
                <a:srgbClr val="563C0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69">
              <a:solidFill>
                <a:srgbClr val="563C0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27389" y="-698554"/>
            <a:ext cx="2713427" cy="2730492"/>
          </a:xfrm>
          <a:custGeom>
            <a:rect b="b" l="l" r="r" t="t"/>
            <a:pathLst>
              <a:path extrusionOk="0"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3"/>
                </a:lnTo>
                <a:lnTo>
                  <a:pt x="0" y="27304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5"/>
          <p:cNvGrpSpPr/>
          <p:nvPr/>
        </p:nvGrpSpPr>
        <p:grpSpPr>
          <a:xfrm>
            <a:off x="12472426" y="-1401193"/>
            <a:ext cx="7017226" cy="12180883"/>
            <a:chOff x="0" y="-57150"/>
            <a:chExt cx="1848158" cy="3208134"/>
          </a:xfrm>
        </p:grpSpPr>
        <p:sp>
          <p:nvSpPr>
            <p:cNvPr id="117" name="Google Shape;117;p15"/>
            <p:cNvSpPr/>
            <p:nvPr/>
          </p:nvSpPr>
          <p:spPr>
            <a:xfrm>
              <a:off x="0" y="0"/>
              <a:ext cx="1848158" cy="3150984"/>
            </a:xfrm>
            <a:custGeom>
              <a:rect b="b" l="l" r="r" t="t"/>
              <a:pathLst>
                <a:path extrusionOk="0" h="3150984" w="1848158">
                  <a:moveTo>
                    <a:pt x="0" y="0"/>
                  </a:moveTo>
                  <a:lnTo>
                    <a:pt x="1848158" y="0"/>
                  </a:lnTo>
                  <a:lnTo>
                    <a:pt x="1848158" y="3150984"/>
                  </a:lnTo>
                  <a:lnTo>
                    <a:pt x="0" y="3150984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118" name="Google Shape;118;p15"/>
            <p:cNvSpPr txBox="1"/>
            <p:nvPr/>
          </p:nvSpPr>
          <p:spPr>
            <a:xfrm>
              <a:off x="0" y="-57150"/>
              <a:ext cx="1848158" cy="3208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1498034" y="2138603"/>
            <a:ext cx="15291933" cy="5792804"/>
            <a:chOff x="0" y="-57150"/>
            <a:chExt cx="4027505" cy="1525677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4027505" cy="1468527"/>
            </a:xfrm>
            <a:custGeom>
              <a:rect b="b" l="l" r="r" t="t"/>
              <a:pathLst>
                <a:path extrusionOk="0" h="1468527" w="4027505">
                  <a:moveTo>
                    <a:pt x="0" y="0"/>
                  </a:moveTo>
                  <a:lnTo>
                    <a:pt x="4027505" y="0"/>
                  </a:lnTo>
                  <a:lnTo>
                    <a:pt x="4027505" y="1468527"/>
                  </a:lnTo>
                  <a:lnTo>
                    <a:pt x="0" y="14685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15"/>
            <p:cNvSpPr txBox="1"/>
            <p:nvPr/>
          </p:nvSpPr>
          <p:spPr>
            <a:xfrm>
              <a:off x="0" y="-57150"/>
              <a:ext cx="4027505" cy="1525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1498034" y="2138603"/>
            <a:ext cx="956740" cy="5792804"/>
            <a:chOff x="0" y="-57150"/>
            <a:chExt cx="251981" cy="1525677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251981" cy="1468527"/>
            </a:xfrm>
            <a:custGeom>
              <a:rect b="b" l="l" r="r" t="t"/>
              <a:pathLst>
                <a:path extrusionOk="0" h="1468527" w="251981">
                  <a:moveTo>
                    <a:pt x="0" y="0"/>
                  </a:moveTo>
                  <a:lnTo>
                    <a:pt x="251981" y="0"/>
                  </a:lnTo>
                  <a:lnTo>
                    <a:pt x="251981" y="1468527"/>
                  </a:lnTo>
                  <a:lnTo>
                    <a:pt x="0" y="1468527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124" name="Google Shape;124;p15"/>
            <p:cNvSpPr txBox="1"/>
            <p:nvPr/>
          </p:nvSpPr>
          <p:spPr>
            <a:xfrm>
              <a:off x="0" y="-57150"/>
              <a:ext cx="251981" cy="1525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5"/>
          <p:cNvSpPr txBox="1"/>
          <p:nvPr/>
        </p:nvSpPr>
        <p:spPr>
          <a:xfrm>
            <a:off x="2879551" y="3023561"/>
            <a:ext cx="13097700" cy="28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36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 b="1" sz="763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63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2879551" y="4563713"/>
            <a:ext cx="12573000" cy="3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9">
                <a:latin typeface="Poppins"/>
                <a:ea typeface="Poppins"/>
                <a:cs typeface="Poppins"/>
                <a:sym typeface="Poppins"/>
              </a:rPr>
              <a:t>It’s hard to make a shared decision about what to watch.</a:t>
            </a:r>
            <a:endParaRPr sz="281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9">
                <a:latin typeface="Poppins"/>
                <a:ea typeface="Poppins"/>
                <a:cs typeface="Poppins"/>
                <a:sym typeface="Poppins"/>
              </a:rPr>
              <a:t>Too much time is spent on selection instead of actually consuming content.</a:t>
            </a:r>
            <a:endParaRPr sz="281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9">
                <a:latin typeface="Poppins"/>
                <a:ea typeface="Poppins"/>
                <a:cs typeface="Poppins"/>
                <a:sym typeface="Poppins"/>
              </a:rPr>
              <a:t>Different tastes and preferences clash within the group.</a:t>
            </a:r>
            <a:endParaRPr sz="281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9">
                <a:latin typeface="Poppins"/>
                <a:ea typeface="Poppins"/>
                <a:cs typeface="Poppins"/>
                <a:sym typeface="Poppins"/>
              </a:rPr>
              <a:t>There is a lack of a simple, central method for shared selection.</a:t>
            </a:r>
            <a:endParaRPr sz="281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1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085797" y="1028700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5"/>
          <p:cNvSpPr/>
          <p:nvPr/>
        </p:nvSpPr>
        <p:spPr>
          <a:xfrm>
            <a:off x="15781235" y="7228148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3" y="0"/>
                </a:lnTo>
                <a:lnTo>
                  <a:pt x="2017463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4125502" y="-216991"/>
            <a:ext cx="225561" cy="10503991"/>
            <a:chOff x="0" y="-57150"/>
            <a:chExt cx="59407" cy="2766483"/>
          </a:xfrm>
        </p:grpSpPr>
        <p:sp>
          <p:nvSpPr>
            <p:cNvPr id="134" name="Google Shape;134;p16"/>
            <p:cNvSpPr/>
            <p:nvPr/>
          </p:nvSpPr>
          <p:spPr>
            <a:xfrm>
              <a:off x="0" y="0"/>
              <a:ext cx="59407" cy="2709333"/>
            </a:xfrm>
            <a:custGeom>
              <a:rect b="b" l="l" r="r" t="t"/>
              <a:pathLst>
                <a:path extrusionOk="0" h="2709333" w="59407">
                  <a:moveTo>
                    <a:pt x="0" y="0"/>
                  </a:moveTo>
                  <a:lnTo>
                    <a:pt x="59407" y="0"/>
                  </a:lnTo>
                  <a:lnTo>
                    <a:pt x="594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</p:sp>
        <p:sp>
          <p:nvSpPr>
            <p:cNvPr id="135" name="Google Shape;135;p16"/>
            <p:cNvSpPr txBox="1"/>
            <p:nvPr/>
          </p:nvSpPr>
          <p:spPr>
            <a:xfrm>
              <a:off x="0" y="-57150"/>
              <a:ext cx="59407" cy="27664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-2203776" y="-1055437"/>
            <a:ext cx="6329279" cy="12180883"/>
            <a:chOff x="0" y="-57150"/>
            <a:chExt cx="1666971" cy="3208134"/>
          </a:xfrm>
        </p:grpSpPr>
        <p:sp>
          <p:nvSpPr>
            <p:cNvPr id="137" name="Google Shape;137;p16"/>
            <p:cNvSpPr/>
            <p:nvPr/>
          </p:nvSpPr>
          <p:spPr>
            <a:xfrm>
              <a:off x="0" y="0"/>
              <a:ext cx="1666971" cy="3150984"/>
            </a:xfrm>
            <a:custGeom>
              <a:rect b="b" l="l" r="r" t="t"/>
              <a:pathLst>
                <a:path extrusionOk="0" h="3150984" w="1666971">
                  <a:moveTo>
                    <a:pt x="0" y="0"/>
                  </a:moveTo>
                  <a:lnTo>
                    <a:pt x="1666971" y="0"/>
                  </a:lnTo>
                  <a:lnTo>
                    <a:pt x="1666971" y="3150984"/>
                  </a:lnTo>
                  <a:lnTo>
                    <a:pt x="0" y="3150984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138" name="Google Shape;138;p16"/>
            <p:cNvSpPr txBox="1"/>
            <p:nvPr/>
          </p:nvSpPr>
          <p:spPr>
            <a:xfrm>
              <a:off x="0" y="-57150"/>
              <a:ext cx="1666971" cy="3208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6"/>
          <p:cNvSpPr txBox="1"/>
          <p:nvPr/>
        </p:nvSpPr>
        <p:spPr>
          <a:xfrm>
            <a:off x="6422775" y="3429000"/>
            <a:ext cx="10461900" cy="3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47">
                <a:latin typeface="Poppins"/>
                <a:ea typeface="Poppins"/>
                <a:cs typeface="Poppins"/>
                <a:sym typeface="Poppins"/>
              </a:rPr>
              <a:t>A SeeIt egy intuitív felületet biztosít, ahol:</a:t>
            </a:r>
            <a:endParaRPr sz="2847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47">
                <a:latin typeface="Poppins"/>
                <a:ea typeface="Poppins"/>
                <a:cs typeface="Poppins"/>
                <a:sym typeface="Poppins"/>
              </a:rPr>
              <a:t>A felhasználók felfedezhetnek új filmeket és sorozatokat.</a:t>
            </a:r>
            <a:endParaRPr sz="2847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47">
                <a:latin typeface="Poppins"/>
                <a:ea typeface="Poppins"/>
                <a:cs typeface="Poppins"/>
                <a:sym typeface="Poppins"/>
              </a:rPr>
              <a:t>Menthetik kedvenc tartalmaikat.</a:t>
            </a:r>
            <a:endParaRPr sz="2847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47">
                <a:latin typeface="Poppins"/>
                <a:ea typeface="Poppins"/>
                <a:cs typeface="Poppins"/>
                <a:sym typeface="Poppins"/>
              </a:rPr>
              <a:t>Megoszthatják listáikat és közösen szavazhatnak.</a:t>
            </a:r>
            <a:endParaRPr sz="2847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47">
                <a:latin typeface="Poppins"/>
                <a:ea typeface="Poppins"/>
                <a:cs typeface="Poppins"/>
                <a:sym typeface="Poppins"/>
              </a:rPr>
              <a:t>Személyre szabott ajánlásokat kaphatnak.</a:t>
            </a:r>
            <a:endParaRPr sz="2847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4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701837" y="819150"/>
            <a:ext cx="86160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44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Megoldás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16289881" y="-552140"/>
            <a:ext cx="2713427" cy="2730492"/>
          </a:xfrm>
          <a:custGeom>
            <a:rect b="b" l="l" r="r" t="t"/>
            <a:pathLst>
              <a:path extrusionOk="0"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>
            <a:off x="-974312" y="8394954"/>
            <a:ext cx="2713427" cy="2730492"/>
          </a:xfrm>
          <a:custGeom>
            <a:rect b="b" l="l" r="r" t="t"/>
            <a:pathLst>
              <a:path extrusionOk="0"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7"/>
          <p:cNvGrpSpPr/>
          <p:nvPr/>
        </p:nvGrpSpPr>
        <p:grpSpPr>
          <a:xfrm>
            <a:off x="0" y="1785923"/>
            <a:ext cx="18288000" cy="3676353"/>
            <a:chOff x="0" y="-57150"/>
            <a:chExt cx="4816593" cy="968258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4816592" cy="911108"/>
            </a:xfrm>
            <a:custGeom>
              <a:rect b="b" l="l" r="r" t="t"/>
              <a:pathLst>
                <a:path extrusionOk="0" h="9111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11108"/>
                  </a:lnTo>
                  <a:lnTo>
                    <a:pt x="0" y="911108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149" name="Google Shape;149;p17"/>
            <p:cNvSpPr txBox="1"/>
            <p:nvPr/>
          </p:nvSpPr>
          <p:spPr>
            <a:xfrm>
              <a:off x="0" y="-57150"/>
              <a:ext cx="4816593" cy="96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17"/>
          <p:cNvGrpSpPr/>
          <p:nvPr/>
        </p:nvGrpSpPr>
        <p:grpSpPr>
          <a:xfrm>
            <a:off x="0" y="5243052"/>
            <a:ext cx="18288000" cy="3668170"/>
            <a:chOff x="0" y="-57150"/>
            <a:chExt cx="4816593" cy="966103"/>
          </a:xfrm>
        </p:grpSpPr>
        <p:sp>
          <p:nvSpPr>
            <p:cNvPr id="151" name="Google Shape;151;p17"/>
            <p:cNvSpPr/>
            <p:nvPr/>
          </p:nvSpPr>
          <p:spPr>
            <a:xfrm>
              <a:off x="0" y="0"/>
              <a:ext cx="4816592" cy="908953"/>
            </a:xfrm>
            <a:custGeom>
              <a:rect b="b" l="l" r="r" t="t"/>
              <a:pathLst>
                <a:path extrusionOk="0" h="9089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08953"/>
                  </a:lnTo>
                  <a:lnTo>
                    <a:pt x="0" y="908953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52" name="Google Shape;152;p17"/>
            <p:cNvSpPr txBox="1"/>
            <p:nvPr/>
          </p:nvSpPr>
          <p:spPr>
            <a:xfrm>
              <a:off x="0" y="-57150"/>
              <a:ext cx="4816593" cy="966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17"/>
          <p:cNvSpPr txBox="1"/>
          <p:nvPr/>
        </p:nvSpPr>
        <p:spPr>
          <a:xfrm>
            <a:off x="2903513" y="199762"/>
            <a:ext cx="124809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54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Discover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64925" y="2347550"/>
            <a:ext cx="8480100" cy="3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Poppins"/>
                <a:ea typeface="Poppins"/>
                <a:cs typeface="Poppins"/>
                <a:sym typeface="Poppins"/>
              </a:rPr>
              <a:t>Browse movies and series.</a:t>
            </a:r>
            <a:endParaRPr sz="3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Poppins"/>
                <a:ea typeface="Poppins"/>
                <a:cs typeface="Poppins"/>
                <a:sym typeface="Poppins"/>
              </a:rPr>
              <a:t>Filter by categories (genres).</a:t>
            </a:r>
            <a:endParaRPr sz="3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Poppins"/>
                <a:ea typeface="Poppins"/>
                <a:cs typeface="Poppins"/>
                <a:sym typeface="Poppins"/>
              </a:rPr>
              <a:t>Search function.</a:t>
            </a:r>
            <a:endParaRPr sz="3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Poppins"/>
                <a:ea typeface="Poppins"/>
                <a:cs typeface="Poppins"/>
                <a:sym typeface="Poppins"/>
              </a:rPr>
              <a:t>List popular content.</a:t>
            </a:r>
            <a:endParaRPr sz="3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6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-224578" y="9187447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7"/>
          <p:cNvSpPr/>
          <p:nvPr/>
        </p:nvSpPr>
        <p:spPr>
          <a:xfrm>
            <a:off x="15586806" y="-1015076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3" y="0"/>
                </a:lnTo>
                <a:lnTo>
                  <a:pt x="2017463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7" name="Google Shape;157;p17" title="Discove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3525" y="1439350"/>
            <a:ext cx="3924300" cy="747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title="Discovery_-_Search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63700" y="1439350"/>
            <a:ext cx="3924300" cy="747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8"/>
          <p:cNvGrpSpPr/>
          <p:nvPr/>
        </p:nvGrpSpPr>
        <p:grpSpPr>
          <a:xfrm>
            <a:off x="0" y="1785921"/>
            <a:ext cx="18288118" cy="3676918"/>
            <a:chOff x="0" y="-57150"/>
            <a:chExt cx="4816592" cy="968400"/>
          </a:xfrm>
        </p:grpSpPr>
        <p:sp>
          <p:nvSpPr>
            <p:cNvPr id="164" name="Google Shape;164;p18"/>
            <p:cNvSpPr/>
            <p:nvPr/>
          </p:nvSpPr>
          <p:spPr>
            <a:xfrm>
              <a:off x="0" y="0"/>
              <a:ext cx="4816592" cy="911108"/>
            </a:xfrm>
            <a:custGeom>
              <a:rect b="b" l="l" r="r" t="t"/>
              <a:pathLst>
                <a:path extrusionOk="0" h="9111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11108"/>
                  </a:lnTo>
                  <a:lnTo>
                    <a:pt x="0" y="911108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165" name="Google Shape;165;p18"/>
            <p:cNvSpPr txBox="1"/>
            <p:nvPr/>
          </p:nvSpPr>
          <p:spPr>
            <a:xfrm>
              <a:off x="0" y="-57150"/>
              <a:ext cx="48165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0" y="5243050"/>
            <a:ext cx="18288118" cy="3668196"/>
            <a:chOff x="0" y="-57150"/>
            <a:chExt cx="4816592" cy="966103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4816592" cy="908953"/>
            </a:xfrm>
            <a:custGeom>
              <a:rect b="b" l="l" r="r" t="t"/>
              <a:pathLst>
                <a:path extrusionOk="0" h="9089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08953"/>
                  </a:lnTo>
                  <a:lnTo>
                    <a:pt x="0" y="908953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68" name="Google Shape;168;p18"/>
            <p:cNvSpPr txBox="1"/>
            <p:nvPr/>
          </p:nvSpPr>
          <p:spPr>
            <a:xfrm>
              <a:off x="0" y="-57150"/>
              <a:ext cx="4816500" cy="96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8"/>
          <p:cNvSpPr txBox="1"/>
          <p:nvPr/>
        </p:nvSpPr>
        <p:spPr>
          <a:xfrm>
            <a:off x="2903513" y="199762"/>
            <a:ext cx="124809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8054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Film / Sorozat Részletek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4925" y="2031025"/>
            <a:ext cx="8480100" cy="3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Részletes információk a kiválasztott tartalomról.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Értékelések és like/dislike véleményezés.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Kapcsolódó ajánlások.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67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-224578" y="9187447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8"/>
          <p:cNvSpPr/>
          <p:nvPr/>
        </p:nvSpPr>
        <p:spPr>
          <a:xfrm>
            <a:off x="15586806" y="-1015076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3" y="0"/>
                </a:lnTo>
                <a:lnTo>
                  <a:pt x="2017463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73" name="Google Shape;173;p18" title="Deta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86975" y="2031025"/>
            <a:ext cx="3924300" cy="793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9"/>
          <p:cNvGrpSpPr/>
          <p:nvPr/>
        </p:nvGrpSpPr>
        <p:grpSpPr>
          <a:xfrm>
            <a:off x="3247312" y="1658164"/>
            <a:ext cx="15630481" cy="7208715"/>
            <a:chOff x="0" y="-57150"/>
            <a:chExt cx="4116670" cy="1898592"/>
          </a:xfrm>
        </p:grpSpPr>
        <p:sp>
          <p:nvSpPr>
            <p:cNvPr id="179" name="Google Shape;179;p19"/>
            <p:cNvSpPr/>
            <p:nvPr/>
          </p:nvSpPr>
          <p:spPr>
            <a:xfrm>
              <a:off x="0" y="0"/>
              <a:ext cx="4116670" cy="1841442"/>
            </a:xfrm>
            <a:custGeom>
              <a:rect b="b" l="l" r="r" t="t"/>
              <a:pathLst>
                <a:path extrusionOk="0" h="1841442" w="4116670">
                  <a:moveTo>
                    <a:pt x="0" y="0"/>
                  </a:moveTo>
                  <a:lnTo>
                    <a:pt x="4116670" y="0"/>
                  </a:lnTo>
                  <a:lnTo>
                    <a:pt x="4116670" y="1841442"/>
                  </a:lnTo>
                  <a:lnTo>
                    <a:pt x="0" y="1841442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180" name="Google Shape;180;p19"/>
            <p:cNvSpPr txBox="1"/>
            <p:nvPr/>
          </p:nvSpPr>
          <p:spPr>
            <a:xfrm>
              <a:off x="0" y="-57150"/>
              <a:ext cx="4116670" cy="1898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9"/>
          <p:cNvSpPr txBox="1"/>
          <p:nvPr/>
        </p:nvSpPr>
        <p:spPr>
          <a:xfrm>
            <a:off x="7062629" y="362444"/>
            <a:ext cx="108765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11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Saved Contents</a:t>
            </a:r>
            <a:endParaRPr/>
          </a:p>
        </p:txBody>
      </p:sp>
      <p:grpSp>
        <p:nvGrpSpPr>
          <p:cNvPr id="182" name="Google Shape;182;p19"/>
          <p:cNvGrpSpPr/>
          <p:nvPr/>
        </p:nvGrpSpPr>
        <p:grpSpPr>
          <a:xfrm>
            <a:off x="12223382" y="1658164"/>
            <a:ext cx="6654411" cy="7208715"/>
            <a:chOff x="0" y="-57150"/>
            <a:chExt cx="1752602" cy="1898592"/>
          </a:xfrm>
        </p:grpSpPr>
        <p:sp>
          <p:nvSpPr>
            <p:cNvPr id="183" name="Google Shape;183;p19"/>
            <p:cNvSpPr/>
            <p:nvPr/>
          </p:nvSpPr>
          <p:spPr>
            <a:xfrm>
              <a:off x="0" y="0"/>
              <a:ext cx="1752602" cy="1841442"/>
            </a:xfrm>
            <a:custGeom>
              <a:rect b="b" l="l" r="r" t="t"/>
              <a:pathLst>
                <a:path extrusionOk="0" h="1841442" w="1752602">
                  <a:moveTo>
                    <a:pt x="0" y="0"/>
                  </a:moveTo>
                  <a:lnTo>
                    <a:pt x="1752602" y="0"/>
                  </a:lnTo>
                  <a:lnTo>
                    <a:pt x="1752602" y="1841442"/>
                  </a:lnTo>
                  <a:lnTo>
                    <a:pt x="0" y="1841442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184" name="Google Shape;184;p19"/>
            <p:cNvSpPr txBox="1"/>
            <p:nvPr/>
          </p:nvSpPr>
          <p:spPr>
            <a:xfrm>
              <a:off x="0" y="-57150"/>
              <a:ext cx="1752602" cy="1898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19"/>
          <p:cNvSpPr txBox="1"/>
          <p:nvPr/>
        </p:nvSpPr>
        <p:spPr>
          <a:xfrm>
            <a:off x="12723799" y="2424890"/>
            <a:ext cx="4837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Create your own watchlist.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Save content for later viewing.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Poppins"/>
                <a:ea typeface="Poppins"/>
                <a:cs typeface="Poppins"/>
                <a:sym typeface="Poppins"/>
              </a:rPr>
              <a:t>Organize and manage saved items.</a:t>
            </a:r>
            <a:endParaRPr sz="2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6" name="Google Shape;186;p19" title="Sav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325" y="1872750"/>
            <a:ext cx="3566750" cy="699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0"/>
          <p:cNvGrpSpPr/>
          <p:nvPr/>
        </p:nvGrpSpPr>
        <p:grpSpPr>
          <a:xfrm>
            <a:off x="0" y="-216991"/>
            <a:ext cx="18288000" cy="8422889"/>
            <a:chOff x="0" y="-57150"/>
            <a:chExt cx="4816593" cy="2218374"/>
          </a:xfrm>
        </p:grpSpPr>
        <p:sp>
          <p:nvSpPr>
            <p:cNvPr id="192" name="Google Shape;192;p20"/>
            <p:cNvSpPr/>
            <p:nvPr/>
          </p:nvSpPr>
          <p:spPr>
            <a:xfrm>
              <a:off x="0" y="0"/>
              <a:ext cx="4816592" cy="2161224"/>
            </a:xfrm>
            <a:custGeom>
              <a:rect b="b" l="l" r="r" t="t"/>
              <a:pathLst>
                <a:path extrusionOk="0" h="216122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1224"/>
                  </a:lnTo>
                  <a:lnTo>
                    <a:pt x="0" y="2161224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193" name="Google Shape;193;p20"/>
            <p:cNvSpPr txBox="1"/>
            <p:nvPr/>
          </p:nvSpPr>
          <p:spPr>
            <a:xfrm>
              <a:off x="0" y="-57150"/>
              <a:ext cx="4816593" cy="2218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0" y="-216991"/>
            <a:ext cx="8200350" cy="7986656"/>
            <a:chOff x="0" y="-57150"/>
            <a:chExt cx="2159763" cy="2103482"/>
          </a:xfrm>
        </p:grpSpPr>
        <p:sp>
          <p:nvSpPr>
            <p:cNvPr id="195" name="Google Shape;195;p20"/>
            <p:cNvSpPr/>
            <p:nvPr/>
          </p:nvSpPr>
          <p:spPr>
            <a:xfrm>
              <a:off x="0" y="0"/>
              <a:ext cx="2159763" cy="2046331"/>
            </a:xfrm>
            <a:custGeom>
              <a:rect b="b" l="l" r="r" t="t"/>
              <a:pathLst>
                <a:path extrusionOk="0" h="2046331" w="2159763">
                  <a:moveTo>
                    <a:pt x="0" y="0"/>
                  </a:moveTo>
                  <a:lnTo>
                    <a:pt x="2159763" y="0"/>
                  </a:lnTo>
                  <a:lnTo>
                    <a:pt x="2159763" y="2046331"/>
                  </a:lnTo>
                  <a:lnTo>
                    <a:pt x="0" y="20463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6" name="Google Shape;196;p20"/>
            <p:cNvSpPr txBox="1"/>
            <p:nvPr/>
          </p:nvSpPr>
          <p:spPr>
            <a:xfrm>
              <a:off x="0" y="-57150"/>
              <a:ext cx="2159763" cy="2103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20"/>
          <p:cNvSpPr txBox="1"/>
          <p:nvPr/>
        </p:nvSpPr>
        <p:spPr>
          <a:xfrm>
            <a:off x="1028700" y="274958"/>
            <a:ext cx="67215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31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Profil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28700" y="2598123"/>
            <a:ext cx="6721500" cy="25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Felhasználói profil testreszabása.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Poppins"/>
                <a:ea typeface="Poppins"/>
                <a:cs typeface="Poppins"/>
                <a:sym typeface="Poppins"/>
              </a:rPr>
              <a:t>Preferenciák beállítása.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1"/>
          <p:cNvGrpSpPr/>
          <p:nvPr/>
        </p:nvGrpSpPr>
        <p:grpSpPr>
          <a:xfrm>
            <a:off x="1028700" y="811699"/>
            <a:ext cx="14164453" cy="10899905"/>
            <a:chOff x="0" y="-57150"/>
            <a:chExt cx="1770269" cy="2870738"/>
          </a:xfrm>
        </p:grpSpPr>
        <p:sp>
          <p:nvSpPr>
            <p:cNvPr id="204" name="Google Shape;204;p21"/>
            <p:cNvSpPr/>
            <p:nvPr/>
          </p:nvSpPr>
          <p:spPr>
            <a:xfrm>
              <a:off x="0" y="0"/>
              <a:ext cx="1770269" cy="2813588"/>
            </a:xfrm>
            <a:custGeom>
              <a:rect b="b" l="l" r="r" t="t"/>
              <a:pathLst>
                <a:path extrusionOk="0" h="2813588" w="1770269">
                  <a:moveTo>
                    <a:pt x="0" y="0"/>
                  </a:moveTo>
                  <a:lnTo>
                    <a:pt x="1770269" y="0"/>
                  </a:lnTo>
                  <a:lnTo>
                    <a:pt x="1770269" y="2813588"/>
                  </a:lnTo>
                  <a:lnTo>
                    <a:pt x="0" y="2813588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05" name="Google Shape;205;p21"/>
            <p:cNvSpPr txBox="1"/>
            <p:nvPr/>
          </p:nvSpPr>
          <p:spPr>
            <a:xfrm>
              <a:off x="0" y="-57150"/>
              <a:ext cx="1770269" cy="2870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1592870" y="1453475"/>
            <a:ext cx="81006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922">
                <a:latin typeface="Poppins"/>
                <a:ea typeface="Poppins"/>
                <a:cs typeface="Poppins"/>
                <a:sym typeface="Poppins"/>
              </a:rPr>
              <a:t>User Guide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592875" y="4268500"/>
            <a:ext cx="13362900" cy="4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6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Sign up and log in 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Create an account (username and email). Set up your profile, then start discovering content.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Browse popular content on the homepage. Use filters and genres to narrow down your results.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 Click on cover images for details and save your favorites.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Organize a viewing party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-3746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en-US" sz="2300">
                <a:latin typeface="Poppins"/>
                <a:ea typeface="Poppins"/>
                <a:cs typeface="Poppins"/>
                <a:sym typeface="Poppins"/>
              </a:rPr>
              <a:t>Each member saves the content they are interested in, votes together, and enjoys the selected movie or series together.</a:t>
            </a:r>
            <a:endParaRPr sz="2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-224578" y="9187447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21"/>
          <p:cNvSpPr/>
          <p:nvPr/>
        </p:nvSpPr>
        <p:spPr>
          <a:xfrm>
            <a:off x="6516965" y="394585"/>
            <a:ext cx="1233226" cy="1240983"/>
          </a:xfrm>
          <a:custGeom>
            <a:rect b="b" l="l" r="r" t="t"/>
            <a:pathLst>
              <a:path extrusionOk="0" h="1240983" w="1233226">
                <a:moveTo>
                  <a:pt x="0" y="0"/>
                </a:moveTo>
                <a:lnTo>
                  <a:pt x="1233226" y="0"/>
                </a:lnTo>
                <a:lnTo>
                  <a:pt x="1233226" y="1240982"/>
                </a:lnTo>
                <a:lnTo>
                  <a:pt x="0" y="1240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2"/>
          <p:cNvGrpSpPr/>
          <p:nvPr/>
        </p:nvGrpSpPr>
        <p:grpSpPr>
          <a:xfrm>
            <a:off x="0" y="-216993"/>
            <a:ext cx="1714691" cy="10504504"/>
            <a:chOff x="0" y="-57150"/>
            <a:chExt cx="451603" cy="2766600"/>
          </a:xfrm>
        </p:grpSpPr>
        <p:sp>
          <p:nvSpPr>
            <p:cNvPr id="215" name="Google Shape;215;p22"/>
            <p:cNvSpPr/>
            <p:nvPr/>
          </p:nvSpPr>
          <p:spPr>
            <a:xfrm>
              <a:off x="0" y="0"/>
              <a:ext cx="451603" cy="2709333"/>
            </a:xfrm>
            <a:custGeom>
              <a:rect b="b" l="l" r="r" t="t"/>
              <a:pathLst>
                <a:path extrusionOk="0" h="2709333" w="451603">
                  <a:moveTo>
                    <a:pt x="0" y="0"/>
                  </a:moveTo>
                  <a:lnTo>
                    <a:pt x="451603" y="0"/>
                  </a:lnTo>
                  <a:lnTo>
                    <a:pt x="45160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16" name="Google Shape;216;p22"/>
            <p:cNvSpPr txBox="1"/>
            <p:nvPr/>
          </p:nvSpPr>
          <p:spPr>
            <a:xfrm>
              <a:off x="0" y="-57150"/>
              <a:ext cx="451500" cy="27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22"/>
          <p:cNvGrpSpPr/>
          <p:nvPr/>
        </p:nvGrpSpPr>
        <p:grpSpPr>
          <a:xfrm>
            <a:off x="16456445" y="7675513"/>
            <a:ext cx="1831625" cy="2611888"/>
            <a:chOff x="0" y="-57150"/>
            <a:chExt cx="482400" cy="687900"/>
          </a:xfrm>
        </p:grpSpPr>
        <p:sp>
          <p:nvSpPr>
            <p:cNvPr id="218" name="Google Shape;218;p22"/>
            <p:cNvSpPr/>
            <p:nvPr/>
          </p:nvSpPr>
          <p:spPr>
            <a:xfrm>
              <a:off x="0" y="0"/>
              <a:ext cx="482385" cy="630649"/>
            </a:xfrm>
            <a:custGeom>
              <a:rect b="b" l="l" r="r" t="t"/>
              <a:pathLst>
                <a:path extrusionOk="0" h="630649" w="482385">
                  <a:moveTo>
                    <a:pt x="0" y="0"/>
                  </a:moveTo>
                  <a:lnTo>
                    <a:pt x="482385" y="0"/>
                  </a:lnTo>
                  <a:lnTo>
                    <a:pt x="482385" y="630649"/>
                  </a:lnTo>
                  <a:lnTo>
                    <a:pt x="0" y="630649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19" name="Google Shape;219;p22"/>
            <p:cNvSpPr txBox="1"/>
            <p:nvPr/>
          </p:nvSpPr>
          <p:spPr>
            <a:xfrm>
              <a:off x="0" y="-57150"/>
              <a:ext cx="482400" cy="6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22"/>
          <p:cNvSpPr txBox="1"/>
          <p:nvPr/>
        </p:nvSpPr>
        <p:spPr>
          <a:xfrm>
            <a:off x="2743200" y="533925"/>
            <a:ext cx="13308600" cy="6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26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Technológia FrontEnd(SPA)</a:t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2743200" y="4350299"/>
            <a:ext cx="10840800" cy="3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Vite – build eszköz és dev szerver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React 18 + TypeScript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React Router DOM – kliens oldali útválasztás (SPA)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TanStack Query – szerveri adatok lekérése, cache és állapotkezelés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Tailwind CSS – stílusok és reszponzív dizájn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Motion (motion.dev) – animációk és átmenetek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6051613" y="-1196251"/>
            <a:ext cx="3874149" cy="3898515"/>
          </a:xfrm>
          <a:custGeom>
            <a:rect b="b" l="l" r="r" t="t"/>
            <a:pathLst>
              <a:path extrusionOk="0" h="3898515" w="3874149">
                <a:moveTo>
                  <a:pt x="0" y="0"/>
                </a:moveTo>
                <a:lnTo>
                  <a:pt x="3874149" y="0"/>
                </a:lnTo>
                <a:lnTo>
                  <a:pt x="3874149" y="3898515"/>
                </a:lnTo>
                <a:lnTo>
                  <a:pt x="0" y="38985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3"/>
          <p:cNvGrpSpPr/>
          <p:nvPr/>
        </p:nvGrpSpPr>
        <p:grpSpPr>
          <a:xfrm>
            <a:off x="0" y="-216991"/>
            <a:ext cx="1714682" cy="10503991"/>
            <a:chOff x="0" y="-57150"/>
            <a:chExt cx="451603" cy="2766483"/>
          </a:xfrm>
        </p:grpSpPr>
        <p:sp>
          <p:nvSpPr>
            <p:cNvPr id="228" name="Google Shape;228;p23"/>
            <p:cNvSpPr/>
            <p:nvPr/>
          </p:nvSpPr>
          <p:spPr>
            <a:xfrm>
              <a:off x="0" y="0"/>
              <a:ext cx="451603" cy="2709333"/>
            </a:xfrm>
            <a:custGeom>
              <a:rect b="b" l="l" r="r" t="t"/>
              <a:pathLst>
                <a:path extrusionOk="0" h="2709333" w="451603">
                  <a:moveTo>
                    <a:pt x="0" y="0"/>
                  </a:moveTo>
                  <a:lnTo>
                    <a:pt x="451603" y="0"/>
                  </a:lnTo>
                  <a:lnTo>
                    <a:pt x="45160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29" name="Google Shape;229;p23"/>
            <p:cNvSpPr txBox="1"/>
            <p:nvPr/>
          </p:nvSpPr>
          <p:spPr>
            <a:xfrm>
              <a:off x="0" y="-57150"/>
              <a:ext cx="451603" cy="27664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23"/>
          <p:cNvGrpSpPr/>
          <p:nvPr/>
        </p:nvGrpSpPr>
        <p:grpSpPr>
          <a:xfrm>
            <a:off x="16456445" y="7675515"/>
            <a:ext cx="1831555" cy="2611485"/>
            <a:chOff x="0" y="-57150"/>
            <a:chExt cx="482385" cy="687799"/>
          </a:xfrm>
        </p:grpSpPr>
        <p:sp>
          <p:nvSpPr>
            <p:cNvPr id="231" name="Google Shape;231;p23"/>
            <p:cNvSpPr/>
            <p:nvPr/>
          </p:nvSpPr>
          <p:spPr>
            <a:xfrm>
              <a:off x="0" y="0"/>
              <a:ext cx="482385" cy="630649"/>
            </a:xfrm>
            <a:custGeom>
              <a:rect b="b" l="l" r="r" t="t"/>
              <a:pathLst>
                <a:path extrusionOk="0" h="630649" w="482385">
                  <a:moveTo>
                    <a:pt x="0" y="0"/>
                  </a:moveTo>
                  <a:lnTo>
                    <a:pt x="482385" y="0"/>
                  </a:lnTo>
                  <a:lnTo>
                    <a:pt x="482385" y="630649"/>
                  </a:lnTo>
                  <a:lnTo>
                    <a:pt x="0" y="630649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32" name="Google Shape;232;p23"/>
            <p:cNvSpPr txBox="1"/>
            <p:nvPr/>
          </p:nvSpPr>
          <p:spPr>
            <a:xfrm>
              <a:off x="0" y="-57150"/>
              <a:ext cx="482385" cy="687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23"/>
          <p:cNvSpPr txBox="1"/>
          <p:nvPr/>
        </p:nvSpPr>
        <p:spPr>
          <a:xfrm>
            <a:off x="2743200" y="533925"/>
            <a:ext cx="13308600" cy="6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26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26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 Backend(API)</a:t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2743200" y="4350299"/>
            <a:ext cx="10840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Laravel 12 – RESTful API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Laravel Sanctum – SPA authentication (token-based)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Laravel Fortify – registration, login, password management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CSRF token – protected SPA requests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Char char="●"/>
            </a:pPr>
            <a:r>
              <a:rPr lang="en-US" sz="2400">
                <a:latin typeface="Poppins"/>
                <a:ea typeface="Poppins"/>
                <a:cs typeface="Poppins"/>
                <a:sym typeface="Poppins"/>
              </a:rPr>
              <a:t>MySQL – database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16051613" y="-1196251"/>
            <a:ext cx="3874149" cy="3898515"/>
          </a:xfrm>
          <a:custGeom>
            <a:rect b="b" l="l" r="r" t="t"/>
            <a:pathLst>
              <a:path extrusionOk="0" h="3898515" w="3874149">
                <a:moveTo>
                  <a:pt x="0" y="0"/>
                </a:moveTo>
                <a:lnTo>
                  <a:pt x="3874149" y="0"/>
                </a:lnTo>
                <a:lnTo>
                  <a:pt x="3874149" y="3898515"/>
                </a:lnTo>
                <a:lnTo>
                  <a:pt x="0" y="38985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4"/>
          <p:cNvGrpSpPr/>
          <p:nvPr/>
        </p:nvGrpSpPr>
        <p:grpSpPr>
          <a:xfrm>
            <a:off x="0" y="-216993"/>
            <a:ext cx="1714691" cy="10504504"/>
            <a:chOff x="0" y="-57150"/>
            <a:chExt cx="451603" cy="2766600"/>
          </a:xfrm>
        </p:grpSpPr>
        <p:sp>
          <p:nvSpPr>
            <p:cNvPr id="241" name="Google Shape;241;p24"/>
            <p:cNvSpPr/>
            <p:nvPr/>
          </p:nvSpPr>
          <p:spPr>
            <a:xfrm>
              <a:off x="0" y="0"/>
              <a:ext cx="451603" cy="2709333"/>
            </a:xfrm>
            <a:custGeom>
              <a:rect b="b" l="l" r="r" t="t"/>
              <a:pathLst>
                <a:path extrusionOk="0" h="2709333" w="451603">
                  <a:moveTo>
                    <a:pt x="0" y="0"/>
                  </a:moveTo>
                  <a:lnTo>
                    <a:pt x="451603" y="0"/>
                  </a:lnTo>
                  <a:lnTo>
                    <a:pt x="45160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42" name="Google Shape;242;p24"/>
            <p:cNvSpPr txBox="1"/>
            <p:nvPr/>
          </p:nvSpPr>
          <p:spPr>
            <a:xfrm>
              <a:off x="0" y="-57150"/>
              <a:ext cx="451500" cy="27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16456445" y="7675513"/>
            <a:ext cx="1831625" cy="2611888"/>
            <a:chOff x="0" y="-57150"/>
            <a:chExt cx="482400" cy="687900"/>
          </a:xfrm>
        </p:grpSpPr>
        <p:sp>
          <p:nvSpPr>
            <p:cNvPr id="244" name="Google Shape;244;p24"/>
            <p:cNvSpPr/>
            <p:nvPr/>
          </p:nvSpPr>
          <p:spPr>
            <a:xfrm>
              <a:off x="0" y="0"/>
              <a:ext cx="482385" cy="630649"/>
            </a:xfrm>
            <a:custGeom>
              <a:rect b="b" l="l" r="r" t="t"/>
              <a:pathLst>
                <a:path extrusionOk="0" h="630649" w="482385">
                  <a:moveTo>
                    <a:pt x="0" y="0"/>
                  </a:moveTo>
                  <a:lnTo>
                    <a:pt x="482385" y="0"/>
                  </a:lnTo>
                  <a:lnTo>
                    <a:pt x="482385" y="630649"/>
                  </a:lnTo>
                  <a:lnTo>
                    <a:pt x="0" y="630649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45" name="Google Shape;245;p24"/>
            <p:cNvSpPr txBox="1"/>
            <p:nvPr/>
          </p:nvSpPr>
          <p:spPr>
            <a:xfrm>
              <a:off x="0" y="-57150"/>
              <a:ext cx="482400" cy="6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4"/>
          <p:cNvSpPr txBox="1"/>
          <p:nvPr/>
        </p:nvSpPr>
        <p:spPr>
          <a:xfrm>
            <a:off x="2743200" y="533925"/>
            <a:ext cx="13308600" cy="6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26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Technológia Integráció</a:t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2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2743200" y="4350299"/>
            <a:ext cx="108408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Poppins"/>
                <a:ea typeface="Poppins"/>
                <a:cs typeface="Poppins"/>
                <a:sym typeface="Poppins"/>
              </a:rPr>
              <a:t>TMDb API – film- és sorozat adatok, plakátok, műfajok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16051613" y="-1196251"/>
            <a:ext cx="3874149" cy="3898515"/>
          </a:xfrm>
          <a:custGeom>
            <a:rect b="b" l="l" r="r" t="t"/>
            <a:pathLst>
              <a:path extrusionOk="0" h="3898515" w="3874149">
                <a:moveTo>
                  <a:pt x="0" y="0"/>
                </a:moveTo>
                <a:lnTo>
                  <a:pt x="3874149" y="0"/>
                </a:lnTo>
                <a:lnTo>
                  <a:pt x="3874149" y="3898515"/>
                </a:lnTo>
                <a:lnTo>
                  <a:pt x="0" y="38985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5"/>
          <p:cNvGrpSpPr/>
          <p:nvPr/>
        </p:nvGrpSpPr>
        <p:grpSpPr>
          <a:xfrm>
            <a:off x="1028700" y="651962"/>
            <a:ext cx="6087171" cy="8686267"/>
            <a:chOff x="0" y="-57150"/>
            <a:chExt cx="1603195" cy="2287726"/>
          </a:xfrm>
        </p:grpSpPr>
        <p:sp>
          <p:nvSpPr>
            <p:cNvPr id="254" name="Google Shape;254;p25"/>
            <p:cNvSpPr/>
            <p:nvPr/>
          </p:nvSpPr>
          <p:spPr>
            <a:xfrm>
              <a:off x="0" y="0"/>
              <a:ext cx="1603195" cy="2230576"/>
            </a:xfrm>
            <a:custGeom>
              <a:rect b="b" l="l" r="r" t="t"/>
              <a:pathLst>
                <a:path extrusionOk="0" h="2230576" w="1603195">
                  <a:moveTo>
                    <a:pt x="0" y="0"/>
                  </a:moveTo>
                  <a:lnTo>
                    <a:pt x="1603195" y="0"/>
                  </a:lnTo>
                  <a:lnTo>
                    <a:pt x="1603195" y="2230576"/>
                  </a:lnTo>
                  <a:lnTo>
                    <a:pt x="0" y="2230576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55" name="Google Shape;255;p25"/>
            <p:cNvSpPr txBox="1"/>
            <p:nvPr/>
          </p:nvSpPr>
          <p:spPr>
            <a:xfrm>
              <a:off x="0" y="-57150"/>
              <a:ext cx="1603195" cy="2287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17543311" y="731837"/>
            <a:ext cx="744689" cy="8606336"/>
            <a:chOff x="0" y="-57150"/>
            <a:chExt cx="196132" cy="2266689"/>
          </a:xfrm>
        </p:grpSpPr>
        <p:sp>
          <p:nvSpPr>
            <p:cNvPr id="257" name="Google Shape;257;p25"/>
            <p:cNvSpPr/>
            <p:nvPr/>
          </p:nvSpPr>
          <p:spPr>
            <a:xfrm>
              <a:off x="0" y="0"/>
              <a:ext cx="196132" cy="2209539"/>
            </a:xfrm>
            <a:custGeom>
              <a:rect b="b" l="l" r="r" t="t"/>
              <a:pathLst>
                <a:path extrusionOk="0" h="2209539" w="196132">
                  <a:moveTo>
                    <a:pt x="0" y="0"/>
                  </a:moveTo>
                  <a:lnTo>
                    <a:pt x="196132" y="0"/>
                  </a:lnTo>
                  <a:lnTo>
                    <a:pt x="196132" y="2209539"/>
                  </a:lnTo>
                  <a:lnTo>
                    <a:pt x="0" y="2209539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58" name="Google Shape;258;p25"/>
            <p:cNvSpPr txBox="1"/>
            <p:nvPr/>
          </p:nvSpPr>
          <p:spPr>
            <a:xfrm>
              <a:off x="0" y="-57150"/>
              <a:ext cx="196132" cy="22666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25"/>
          <p:cNvGrpSpPr/>
          <p:nvPr/>
        </p:nvGrpSpPr>
        <p:grpSpPr>
          <a:xfrm>
            <a:off x="7828352" y="651964"/>
            <a:ext cx="9002441" cy="2599371"/>
            <a:chOff x="0" y="-57150"/>
            <a:chExt cx="2371013" cy="684608"/>
          </a:xfrm>
        </p:grpSpPr>
        <p:sp>
          <p:nvSpPr>
            <p:cNvPr id="260" name="Google Shape;260;p25"/>
            <p:cNvSpPr/>
            <p:nvPr/>
          </p:nvSpPr>
          <p:spPr>
            <a:xfrm>
              <a:off x="0" y="0"/>
              <a:ext cx="2371013" cy="627458"/>
            </a:xfrm>
            <a:custGeom>
              <a:rect b="b" l="l" r="r" t="t"/>
              <a:pathLst>
                <a:path extrusionOk="0" h="627458" w="2371013">
                  <a:moveTo>
                    <a:pt x="0" y="0"/>
                  </a:moveTo>
                  <a:lnTo>
                    <a:pt x="2371013" y="0"/>
                  </a:lnTo>
                  <a:lnTo>
                    <a:pt x="2371013" y="627458"/>
                  </a:lnTo>
                  <a:lnTo>
                    <a:pt x="0" y="627458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261" name="Google Shape;261;p25"/>
            <p:cNvSpPr txBox="1"/>
            <p:nvPr/>
          </p:nvSpPr>
          <p:spPr>
            <a:xfrm>
              <a:off x="0" y="-57150"/>
              <a:ext cx="2371013" cy="684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25"/>
          <p:cNvGrpSpPr/>
          <p:nvPr/>
        </p:nvGrpSpPr>
        <p:grpSpPr>
          <a:xfrm>
            <a:off x="7828352" y="3202750"/>
            <a:ext cx="9002441" cy="3089043"/>
            <a:chOff x="0" y="-57150"/>
            <a:chExt cx="2371013" cy="813575"/>
          </a:xfrm>
        </p:grpSpPr>
        <p:sp>
          <p:nvSpPr>
            <p:cNvPr id="263" name="Google Shape;263;p25"/>
            <p:cNvSpPr/>
            <p:nvPr/>
          </p:nvSpPr>
          <p:spPr>
            <a:xfrm>
              <a:off x="0" y="0"/>
              <a:ext cx="2371013" cy="756425"/>
            </a:xfrm>
            <a:custGeom>
              <a:rect b="b" l="l" r="r" t="t"/>
              <a:pathLst>
                <a:path extrusionOk="0" h="756425" w="2371013">
                  <a:moveTo>
                    <a:pt x="0" y="0"/>
                  </a:moveTo>
                  <a:lnTo>
                    <a:pt x="2371013" y="0"/>
                  </a:lnTo>
                  <a:lnTo>
                    <a:pt x="2371013" y="756425"/>
                  </a:lnTo>
                  <a:lnTo>
                    <a:pt x="0" y="756425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264" name="Google Shape;264;p25"/>
            <p:cNvSpPr txBox="1"/>
            <p:nvPr/>
          </p:nvSpPr>
          <p:spPr>
            <a:xfrm>
              <a:off x="0" y="-57150"/>
              <a:ext cx="2371013" cy="813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25"/>
          <p:cNvSpPr txBox="1"/>
          <p:nvPr/>
        </p:nvSpPr>
        <p:spPr>
          <a:xfrm>
            <a:off x="1567450" y="3771900"/>
            <a:ext cx="5548500" cy="22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6222">
                <a:solidFill>
                  <a:srgbClr val="563C08"/>
                </a:solidFill>
                <a:latin typeface="Poppins"/>
                <a:ea typeface="Poppins"/>
                <a:cs typeface="Poppins"/>
                <a:sym typeface="Poppins"/>
              </a:rPr>
              <a:t>Planned Functions</a:t>
            </a:r>
            <a:endParaRPr/>
          </a:p>
        </p:txBody>
      </p:sp>
      <p:grpSp>
        <p:nvGrpSpPr>
          <p:cNvPr id="266" name="Google Shape;266;p25"/>
          <p:cNvGrpSpPr/>
          <p:nvPr/>
        </p:nvGrpSpPr>
        <p:grpSpPr>
          <a:xfrm>
            <a:off x="7828352" y="6314328"/>
            <a:ext cx="9002441" cy="3023845"/>
            <a:chOff x="0" y="-57150"/>
            <a:chExt cx="2371013" cy="796404"/>
          </a:xfrm>
        </p:grpSpPr>
        <p:sp>
          <p:nvSpPr>
            <p:cNvPr id="267" name="Google Shape;267;p25"/>
            <p:cNvSpPr/>
            <p:nvPr/>
          </p:nvSpPr>
          <p:spPr>
            <a:xfrm>
              <a:off x="0" y="0"/>
              <a:ext cx="2371013" cy="739254"/>
            </a:xfrm>
            <a:custGeom>
              <a:rect b="b" l="l" r="r" t="t"/>
              <a:pathLst>
                <a:path extrusionOk="0" h="739254" w="2371013">
                  <a:moveTo>
                    <a:pt x="0" y="0"/>
                  </a:moveTo>
                  <a:lnTo>
                    <a:pt x="2371013" y="0"/>
                  </a:lnTo>
                  <a:lnTo>
                    <a:pt x="2371013" y="739254"/>
                  </a:lnTo>
                  <a:lnTo>
                    <a:pt x="0" y="739254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</p:sp>
        <p:sp>
          <p:nvSpPr>
            <p:cNvPr id="268" name="Google Shape;268;p25"/>
            <p:cNvSpPr txBox="1"/>
            <p:nvPr/>
          </p:nvSpPr>
          <p:spPr>
            <a:xfrm>
              <a:off x="0" y="-57150"/>
              <a:ext cx="2371013" cy="796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25"/>
          <p:cNvSpPr/>
          <p:nvPr/>
        </p:nvSpPr>
        <p:spPr>
          <a:xfrm>
            <a:off x="16534579" y="2563959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25"/>
          <p:cNvSpPr/>
          <p:nvPr/>
        </p:nvSpPr>
        <p:spPr>
          <a:xfrm>
            <a:off x="19968" y="-677417"/>
            <a:ext cx="2017463" cy="2030152"/>
          </a:xfrm>
          <a:custGeom>
            <a:rect b="b" l="l" r="r" t="t"/>
            <a:pathLst>
              <a:path extrusionOk="0" h="2030152" w="2017463">
                <a:moveTo>
                  <a:pt x="0" y="0"/>
                </a:moveTo>
                <a:lnTo>
                  <a:pt x="2017464" y="0"/>
                </a:lnTo>
                <a:lnTo>
                  <a:pt x="2017464" y="2030152"/>
                </a:lnTo>
                <a:lnTo>
                  <a:pt x="0" y="203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5"/>
          <p:cNvSpPr txBox="1"/>
          <p:nvPr/>
        </p:nvSpPr>
        <p:spPr>
          <a:xfrm>
            <a:off x="7860325" y="910000"/>
            <a:ext cx="8970600" cy="23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voting system development.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real-time notifications.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7860325" y="3494950"/>
            <a:ext cx="89706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Invite friends and manage shared lists.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 streaming platform availability (e.g. Netflix, HBO).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7833950" y="6554675"/>
            <a:ext cx="89706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Expanded social features.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Char char="●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English and Hungarian user interface language.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26"/>
          <p:cNvGrpSpPr/>
          <p:nvPr/>
        </p:nvGrpSpPr>
        <p:grpSpPr>
          <a:xfrm>
            <a:off x="0" y="7422442"/>
            <a:ext cx="18288000" cy="2864558"/>
            <a:chOff x="0" y="-57150"/>
            <a:chExt cx="4816593" cy="754452"/>
          </a:xfrm>
        </p:grpSpPr>
        <p:sp>
          <p:nvSpPr>
            <p:cNvPr id="279" name="Google Shape;279;p26"/>
            <p:cNvSpPr/>
            <p:nvPr/>
          </p:nvSpPr>
          <p:spPr>
            <a:xfrm>
              <a:off x="0" y="0"/>
              <a:ext cx="4816592" cy="697302"/>
            </a:xfrm>
            <a:custGeom>
              <a:rect b="b" l="l" r="r" t="t"/>
              <a:pathLst>
                <a:path extrusionOk="0" h="697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97302"/>
                  </a:lnTo>
                  <a:lnTo>
                    <a:pt x="0" y="697302"/>
                  </a:lnTo>
                  <a:close/>
                </a:path>
              </a:pathLst>
            </a:custGeom>
            <a:solidFill>
              <a:srgbClr val="FFD076"/>
            </a:solidFill>
            <a:ln>
              <a:noFill/>
            </a:ln>
          </p:spPr>
        </p:sp>
        <p:sp>
          <p:nvSpPr>
            <p:cNvPr id="280" name="Google Shape;280;p26"/>
            <p:cNvSpPr txBox="1"/>
            <p:nvPr/>
          </p:nvSpPr>
          <p:spPr>
            <a:xfrm>
              <a:off x="0" y="-57150"/>
              <a:ext cx="4816593" cy="754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26"/>
          <p:cNvGrpSpPr/>
          <p:nvPr/>
        </p:nvGrpSpPr>
        <p:grpSpPr>
          <a:xfrm>
            <a:off x="2256205" y="1579171"/>
            <a:ext cx="14194690" cy="7330767"/>
            <a:chOff x="0" y="-57150"/>
            <a:chExt cx="3738519" cy="1930737"/>
          </a:xfrm>
        </p:grpSpPr>
        <p:sp>
          <p:nvSpPr>
            <p:cNvPr id="282" name="Google Shape;282;p26"/>
            <p:cNvSpPr/>
            <p:nvPr/>
          </p:nvSpPr>
          <p:spPr>
            <a:xfrm>
              <a:off x="0" y="0"/>
              <a:ext cx="3738519" cy="1873587"/>
            </a:xfrm>
            <a:custGeom>
              <a:rect b="b" l="l" r="r" t="t"/>
              <a:pathLst>
                <a:path extrusionOk="0"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6"/>
            <p:cNvSpPr txBox="1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26"/>
          <p:cNvGrpSpPr/>
          <p:nvPr/>
        </p:nvGrpSpPr>
        <p:grpSpPr>
          <a:xfrm>
            <a:off x="2046655" y="1369621"/>
            <a:ext cx="14194690" cy="7330767"/>
            <a:chOff x="0" y="-57150"/>
            <a:chExt cx="3738519" cy="1930737"/>
          </a:xfrm>
        </p:grpSpPr>
        <p:sp>
          <p:nvSpPr>
            <p:cNvPr id="285" name="Google Shape;285;p26"/>
            <p:cNvSpPr/>
            <p:nvPr/>
          </p:nvSpPr>
          <p:spPr>
            <a:xfrm>
              <a:off x="0" y="0"/>
              <a:ext cx="3738519" cy="1873587"/>
            </a:xfrm>
            <a:custGeom>
              <a:rect b="b" l="l" r="r" t="t"/>
              <a:pathLst>
                <a:path extrusionOk="0"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6"/>
            <p:cNvSpPr txBox="1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26"/>
          <p:cNvSpPr/>
          <p:nvPr/>
        </p:nvSpPr>
        <p:spPr>
          <a:xfrm>
            <a:off x="689942" y="660153"/>
            <a:ext cx="2713427" cy="2730492"/>
          </a:xfrm>
          <a:custGeom>
            <a:rect b="b" l="l" r="r" t="t"/>
            <a:pathLst>
              <a:path extrusionOk="0"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26"/>
          <p:cNvSpPr/>
          <p:nvPr/>
        </p:nvSpPr>
        <p:spPr>
          <a:xfrm>
            <a:off x="14884631" y="7146243"/>
            <a:ext cx="2713427" cy="2730492"/>
          </a:xfrm>
          <a:custGeom>
            <a:rect b="b" l="l" r="r" t="t"/>
            <a:pathLst>
              <a:path extrusionOk="0"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6"/>
          <p:cNvSpPr txBox="1"/>
          <p:nvPr/>
        </p:nvSpPr>
        <p:spPr>
          <a:xfrm>
            <a:off x="3583054" y="2171766"/>
            <a:ext cx="11121900" cy="47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6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Köszönjük</a:t>
            </a:r>
            <a:endParaRPr b="1" sz="1400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6">
                <a:solidFill>
                  <a:srgbClr val="8B5F0B"/>
                </a:solidFill>
                <a:latin typeface="Poppins"/>
                <a:ea typeface="Poppins"/>
                <a:cs typeface="Poppins"/>
                <a:sym typeface="Poppins"/>
              </a:rPr>
              <a:t>a figyelmet!</a:t>
            </a:r>
            <a:endParaRPr b="1" sz="14006">
              <a:solidFill>
                <a:srgbClr val="8B5F0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6262591" y="9186213"/>
            <a:ext cx="5762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1">
                <a:latin typeface="Poppins"/>
                <a:ea typeface="Poppins"/>
                <a:cs typeface="Poppins"/>
                <a:sym typeface="Poppins"/>
              </a:rPr>
              <a:t>Budapest, 2026 május 22.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